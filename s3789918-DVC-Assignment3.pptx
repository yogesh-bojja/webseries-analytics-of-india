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2" r:id="rId2"/>
    <p:sldId id="257" r:id="rId3"/>
    <p:sldId id="256" r:id="rId4"/>
    <p:sldId id="259" r:id="rId5"/>
    <p:sldId id="258" r:id="rId6"/>
    <p:sldId id="260" r:id="rId7"/>
    <p:sldId id="26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44B507-DC50-4584-B403-6CEC6E0F780D}">
          <p14:sldIdLst>
            <p14:sldId id="262"/>
            <p14:sldId id="257"/>
            <p14:sldId id="256"/>
            <p14:sldId id="259"/>
            <p14:sldId id="258"/>
            <p14:sldId id="260"/>
            <p14:sldId id="263"/>
            <p14:sldId id="261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75" autoAdjust="0"/>
  </p:normalViewPr>
  <p:slideViewPr>
    <p:cSldViewPr snapToGrid="0">
      <p:cViewPr varScale="1">
        <p:scale>
          <a:sx n="77" d="100"/>
          <a:sy n="77" d="100"/>
        </p:scale>
        <p:origin x="8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FCB2D-C783-49CC-AFE4-FE801D10AB74}" type="datetimeFigureOut">
              <a:rPr lang="en-IN" smtClean="0"/>
              <a:t>09-06-2021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60ACDD-EBB2-42E4-B1EF-85C44D6F51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752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0ACDD-EBB2-42E4-B1EF-85C44D6F51B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942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F370-2EFD-43CF-9003-1DA7A8B2F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7C854-0818-4CEB-87EB-B2987C845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0D0BA-EA00-4C8C-B298-684BDF48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D1E6-1B7E-4741-951E-4D6B36E29E7B}" type="datetimeFigureOut">
              <a:rPr lang="en-IN" smtClean="0"/>
              <a:t>09-06-2021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BA8B2-1A41-4E93-B81A-B83C53D56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9C63-150F-48E6-8A7D-A2FB8042B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7ADFC-C482-4665-B650-BE0667E42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02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E5245-B9B3-4F67-92FB-21B94E92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21576-EA39-4CE6-8E3C-56E497426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0205E-C310-4474-81A9-779FE0E19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D1E6-1B7E-4741-951E-4D6B36E29E7B}" type="datetimeFigureOut">
              <a:rPr lang="en-IN" smtClean="0"/>
              <a:t>09-06-2021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39094-C2B2-49CC-9621-F5BFE1AA2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B2F1E-C316-4281-BC81-B5E7CB988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7ADFC-C482-4665-B650-BE0667E42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81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612-C39F-4FDF-997D-0CDBD2ECF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21328-7278-4F27-BA91-E7E8D38C7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928D-756A-4060-AF16-89A966051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D1E6-1B7E-4741-951E-4D6B36E29E7B}" type="datetimeFigureOut">
              <a:rPr lang="en-IN" smtClean="0"/>
              <a:t>09-06-2021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6A8AC-7198-4346-BB77-6ACA7774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B3CC8-9204-4A0C-B369-C3CBB14B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7ADFC-C482-4665-B650-BE0667E42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95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A8BC7-DEDD-4D4F-91B1-93CD6CDF4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23CE2-B7D8-41F3-AEF5-3BFB62F23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90EE3-8AFA-4150-8966-9E8CAF531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A7F22-7A9C-4862-AABB-FA52C804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D1E6-1B7E-4741-951E-4D6B36E29E7B}" type="datetimeFigureOut">
              <a:rPr lang="en-IN" smtClean="0"/>
              <a:t>09-06-2021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C64EA-A1B6-4747-81DB-BC51D917D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71CCA-D8B7-442A-8F6B-9ECDC3D57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7ADFC-C482-4665-B650-BE0667E42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076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51BB-51EF-44B3-8273-C9BCF364B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DD052-4E2D-4FB0-8F4A-402B281B2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6652D-FF4C-4B9B-9CC8-99B1C9D9F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29ED0-303B-4263-A3B0-79DABAE12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1C72E-339D-406D-8E59-3AB1DF2BE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32AAA-94F0-47D2-9DA3-60DAAACA5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D1E6-1B7E-4741-951E-4D6B36E29E7B}" type="datetimeFigureOut">
              <a:rPr lang="en-IN" smtClean="0"/>
              <a:t>09-06-2021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D0F594-132C-4F58-90AC-7A2302237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3BE3E8-D320-45B6-AAE9-A3E7E2F3F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7ADFC-C482-4665-B650-BE0667E42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313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1825-8253-4CC2-951B-8E829C3D5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5BC284-E4C6-41E7-8E60-BBADD859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D1E6-1B7E-4741-951E-4D6B36E29E7B}" type="datetimeFigureOut">
              <a:rPr lang="en-IN" smtClean="0"/>
              <a:t>09-06-2021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D3D47-2EEC-41AD-B167-86C0D9ADB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5AA2C-88EA-44F3-9B64-4AA253BAE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7ADFC-C482-4665-B650-BE0667E42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50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CA977-57E5-4FE5-BDD3-C5F86434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D1E6-1B7E-4741-951E-4D6B36E29E7B}" type="datetimeFigureOut">
              <a:rPr lang="en-IN" smtClean="0"/>
              <a:t>09-06-2021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F5B8B1-58F4-49C7-AE03-E5ED145EC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50754-F99F-4C61-84D8-892B2986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7ADFC-C482-4665-B650-BE0667E42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167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9C325-B988-4015-A1C7-D8A65400D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F90C5-4541-4A8A-836C-FFD6A99FB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35A9B-F893-41A2-8107-FEAFF656D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73073-B6DA-4304-9C0B-80502E11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D1E6-1B7E-4741-951E-4D6B36E29E7B}" type="datetimeFigureOut">
              <a:rPr lang="en-IN" smtClean="0"/>
              <a:t>09-06-2021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484A6-BB3B-4FC4-90E0-ED7F7284E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109ED-2DA5-4687-B2D3-5876FDF93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7ADFC-C482-4665-B650-BE0667E42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850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51A1E-F704-4ADC-930B-62E84B524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7F7362-1B1C-4BEE-A9A2-65577E6A18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37443-546E-419A-9724-454A96C2A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0DAF6-33A1-4BA5-86B2-7AB38B65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D1E6-1B7E-4741-951E-4D6B36E29E7B}" type="datetimeFigureOut">
              <a:rPr lang="en-IN" smtClean="0"/>
              <a:t>09-06-2021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22C23-519A-41F7-9E20-130338E34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E2AED-AEA5-4505-B389-919222DF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7ADFC-C482-4665-B650-BE0667E42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16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6B80-0231-41EC-89FC-0D582A54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20CC8-39C5-4FDB-A041-6F80BCC80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BF5BD-67EB-4C78-9364-748428ED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D1E6-1B7E-4741-951E-4D6B36E29E7B}" type="datetimeFigureOut">
              <a:rPr lang="en-IN" smtClean="0"/>
              <a:t>09-06-2021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06944-90C3-41C1-8FF0-DC8EA54C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68860-3F36-4D07-BB68-58906EE9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7ADFC-C482-4665-B650-BE0667E42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45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BA673-A0FE-4F13-9C57-E3EDAD0EF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84FDF8-DEEF-42E9-A0DC-5E17CA6CD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75772-6A67-44DF-B860-0A68A99DF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D1E6-1B7E-4741-951E-4D6B36E29E7B}" type="datetimeFigureOut">
              <a:rPr lang="en-IN" smtClean="0"/>
              <a:t>09-06-2021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67E64-A74E-4AA6-93F0-83AE3A869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21612-E520-442A-ACC3-A599E358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7ADFC-C482-4665-B650-BE0667E42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309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9C9F1-D2C9-450B-B83E-B2E7BBE4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BB763-69EE-4123-8F23-CA5613344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083B6-0DFB-4B3F-AE31-8356B66AA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9D1E6-1B7E-4741-951E-4D6B36E29E7B}" type="datetimeFigureOut">
              <a:rPr lang="en-IN" smtClean="0"/>
              <a:t>09-06-2021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4A130-5FBF-4BD7-AF70-2F22BF80D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E5E60-C7EE-4ADA-A042-3FB740EAF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7ADFC-C482-4665-B650-BE0667E42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52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db.com/search/title/" TargetMode="External"/><Relationship Id="rId2" Type="http://schemas.openxmlformats.org/officeDocument/2006/relationships/hyperlink" Target="https://borgenproject.org/internet-access-india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estofworld.org/2020/how-india-mobile-data-became-worlds-cheapest/#:~:text=At%20one%20point%20in%202016,approximately%20225%20rupees%20(%243)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2F42-312D-4A81-A012-C460BF4DB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676275"/>
            <a:ext cx="9458325" cy="283368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Berlin Sans FB" panose="020E0602020502020306" pitchFamily="34" charset="0"/>
              </a:rPr>
              <a:t>“Lockdown” </a:t>
            </a:r>
            <a:br>
              <a:rPr lang="en-US" dirty="0">
                <a:solidFill>
                  <a:srgbClr val="FF0000"/>
                </a:solidFill>
                <a:latin typeface="Berlin Sans FB" panose="020E0602020502020306" pitchFamily="34" charset="0"/>
              </a:rPr>
            </a:br>
            <a:r>
              <a:rPr lang="en-US" dirty="0">
                <a:latin typeface="Berlin Sans FB" panose="020E0602020502020306" pitchFamily="34" charset="0"/>
              </a:rPr>
              <a:t>blessing in disguise for OTT platforms in India.</a:t>
            </a:r>
            <a:endParaRPr lang="en-IN" dirty="0">
              <a:latin typeface="Berlin Sans FB" panose="020E0602020502020306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ADAAA-4F90-478D-BFE1-71C6B3E572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                                                                          </a:t>
            </a:r>
            <a:r>
              <a:rPr lang="en-US" dirty="0">
                <a:latin typeface="Bahnschrift SemiLight Condensed" panose="020B0502040204020203" pitchFamily="34" charset="0"/>
              </a:rPr>
              <a:t>Yogesh Haresh Bojja(s3789918)</a:t>
            </a:r>
            <a:endParaRPr lang="en-IN" dirty="0"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27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F14A21-9C30-4B56-A4D6-AC89D742BBBF}"/>
              </a:ext>
            </a:extLst>
          </p:cNvPr>
          <p:cNvSpPr txBox="1"/>
          <p:nvPr/>
        </p:nvSpPr>
        <p:spPr>
          <a:xfrm>
            <a:off x="180974" y="152399"/>
            <a:ext cx="11801475" cy="1266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Closed movie theatres lead to loss of approx. 117 movie releases during lockdown.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A2439199-A60D-4ED1-9B9B-47A83FAAE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8" y="1664801"/>
            <a:ext cx="11965021" cy="520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77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F14A21-9C30-4B56-A4D6-AC89D742BBBF}"/>
              </a:ext>
            </a:extLst>
          </p:cNvPr>
          <p:cNvSpPr txBox="1"/>
          <p:nvPr/>
        </p:nvSpPr>
        <p:spPr>
          <a:xfrm>
            <a:off x="180976" y="161926"/>
            <a:ext cx="11858624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Lockdown halted careers of most top-rated actors in the movie industry.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0" descr="Chart, bar chart&#10;&#10;Description automatically generated">
            <a:extLst>
              <a:ext uri="{FF2B5EF4-FFF2-40B4-BE49-F238E27FC236}">
                <a16:creationId xmlns:a16="http://schemas.microsoft.com/office/drawing/2014/main" id="{9ECC358E-76F8-4FEB-A165-DB50F072F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4310"/>
            <a:ext cx="12192000" cy="528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55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F14A21-9C30-4B56-A4D6-AC89D742BBBF}"/>
              </a:ext>
            </a:extLst>
          </p:cNvPr>
          <p:cNvSpPr txBox="1"/>
          <p:nvPr/>
        </p:nvSpPr>
        <p:spPr>
          <a:xfrm>
            <a:off x="177029" y="207554"/>
            <a:ext cx="11837938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DAE6C7-E9A2-4C93-B009-8294642207E8}"/>
              </a:ext>
            </a:extLst>
          </p:cNvPr>
          <p:cNvSpPr txBox="1"/>
          <p:nvPr/>
        </p:nvSpPr>
        <p:spPr>
          <a:xfrm>
            <a:off x="177028" y="124018"/>
            <a:ext cx="11837938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Web series on the other hand had hike of 50 new releases during lockdown. </a:t>
            </a:r>
            <a:endParaRPr lang="en-US" sz="4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C6A563D7-3406-4778-9273-11A7D2677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1642700"/>
            <a:ext cx="12001499" cy="521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29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F14A21-9C30-4B56-A4D6-AC89D742BBBF}"/>
              </a:ext>
            </a:extLst>
          </p:cNvPr>
          <p:cNvSpPr txBox="1"/>
          <p:nvPr/>
        </p:nvSpPr>
        <p:spPr>
          <a:xfrm>
            <a:off x="195260" y="180975"/>
            <a:ext cx="11801475" cy="1252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Around 50% movies not released due to lockdown were later released </a:t>
            </a: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on the OTT platforms.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4" name="Picture 3" descr="Chart, pie chart&#10;&#10;Description automatically generated">
            <a:extLst>
              <a:ext uri="{FF2B5EF4-FFF2-40B4-BE49-F238E27FC236}">
                <a16:creationId xmlns:a16="http://schemas.microsoft.com/office/drawing/2014/main" id="{7A526D9D-824F-4E45-A3C0-242B104B2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24" y="1716763"/>
            <a:ext cx="5987374" cy="5061109"/>
          </a:xfrm>
          <a:prstGeom prst="rect">
            <a:avLst/>
          </a:prstGeom>
        </p:spPr>
      </p:pic>
      <p:pic>
        <p:nvPicPr>
          <p:cNvPr id="6" name="Picture 5" descr="Chart, pie chart&#10;&#10;Description automatically generated">
            <a:extLst>
              <a:ext uri="{FF2B5EF4-FFF2-40B4-BE49-F238E27FC236}">
                <a16:creationId xmlns:a16="http://schemas.microsoft.com/office/drawing/2014/main" id="{0C6D2FFB-1E63-406E-8EDF-E53D08D71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74310"/>
            <a:ext cx="6095998" cy="537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199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F14A21-9C30-4B56-A4D6-AC89D742BBBF}"/>
              </a:ext>
            </a:extLst>
          </p:cNvPr>
          <p:cNvSpPr txBox="1"/>
          <p:nvPr/>
        </p:nvSpPr>
        <p:spPr>
          <a:xfrm>
            <a:off x="180975" y="161925"/>
            <a:ext cx="11830050" cy="1245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Major OTT platforms showing boost in the release of web series breaking the Indian tradition of daily soap.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1AFEA4F-347D-4FF4-B6F9-0D7BFD277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4310"/>
            <a:ext cx="12191998" cy="528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35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F14A21-9C30-4B56-A4D6-AC89D742BBBF}"/>
              </a:ext>
            </a:extLst>
          </p:cNvPr>
          <p:cNvSpPr txBox="1"/>
          <p:nvPr/>
        </p:nvSpPr>
        <p:spPr>
          <a:xfrm>
            <a:off x="200024" y="219075"/>
            <a:ext cx="11809723" cy="1140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Exponential rise in the number of web series after the introduction of Jio Telecommunication.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005DF95B-A090-4B2F-9B1E-F27DD7602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48" y="1676400"/>
            <a:ext cx="11974202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54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F14A21-9C30-4B56-A4D6-AC89D742BBBF}"/>
              </a:ext>
            </a:extLst>
          </p:cNvPr>
          <p:cNvSpPr txBox="1"/>
          <p:nvPr/>
        </p:nvSpPr>
        <p:spPr>
          <a:xfrm>
            <a:off x="238125" y="180975"/>
            <a:ext cx="11715751" cy="1209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Availability of cheaper internet during lockdown by Jio increased           the demand of OTT platforms , helping them bloom!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F973E10B-DBA1-4269-BA94-E1D0256B8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4310"/>
            <a:ext cx="5886450" cy="5234514"/>
          </a:xfrm>
          <a:prstGeom prst="rect">
            <a:avLst/>
          </a:prstGeom>
        </p:spPr>
      </p:pic>
      <p:pic>
        <p:nvPicPr>
          <p:cNvPr id="6" name="Picture 5" descr="Line chart&#10;&#10;Description automatically generated">
            <a:extLst>
              <a:ext uri="{FF2B5EF4-FFF2-40B4-BE49-F238E27FC236}">
                <a16:creationId xmlns:a16="http://schemas.microsoft.com/office/drawing/2014/main" id="{594F0C16-676D-45C7-80E5-DC79CEDDB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574310"/>
            <a:ext cx="6172198" cy="523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37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F14A21-9C30-4B56-A4D6-AC89D742BBBF}"/>
              </a:ext>
            </a:extLst>
          </p:cNvPr>
          <p:cNvSpPr txBox="1"/>
          <p:nvPr/>
        </p:nvSpPr>
        <p:spPr>
          <a:xfrm>
            <a:off x="238125" y="180975"/>
            <a:ext cx="11715751" cy="1209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A07520-D950-4B0A-9C78-FF1B2800248A}"/>
              </a:ext>
            </a:extLst>
          </p:cNvPr>
          <p:cNvSpPr txBox="1"/>
          <p:nvPr/>
        </p:nvSpPr>
        <p:spPr>
          <a:xfrm>
            <a:off x="238125" y="1878496"/>
            <a:ext cx="115397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hlinkClick r:id="rId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IMDb: Advanced Title Search - IMDb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linkClick r:id="rId2"/>
              </a:rPr>
              <a:t>https://borgenproject.org/internet-access-india/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linkClick r:id="rId4"/>
              </a:rPr>
              <a:t>https://restofworld.org/2020/how-india-mobile-data-became-worlds-cheapest/#:~:text=At%20one%20point%20in%202016,approximately%20225%20rupees%20(%243)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769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180</Words>
  <Application>Microsoft Office PowerPoint</Application>
  <PresentationFormat>Widescreen</PresentationFormat>
  <Paragraphs>16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Bahnschrift SemiLight Condensed</vt:lpstr>
      <vt:lpstr>Berlin Sans FB</vt:lpstr>
      <vt:lpstr>Calibri</vt:lpstr>
      <vt:lpstr>Calibri Light</vt:lpstr>
      <vt:lpstr>Office Theme</vt:lpstr>
      <vt:lpstr>“Lockdown”  blessing in disguise for OTT platforms in India.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Yogesh Haresh Bojja</dc:creator>
  <cp:lastModifiedBy>Yogesh Haresh Bojja</cp:lastModifiedBy>
  <cp:revision>22</cp:revision>
  <dcterms:created xsi:type="dcterms:W3CDTF">2021-06-05T16:27:36Z</dcterms:created>
  <dcterms:modified xsi:type="dcterms:W3CDTF">2021-06-08T15:01:41Z</dcterms:modified>
</cp:coreProperties>
</file>